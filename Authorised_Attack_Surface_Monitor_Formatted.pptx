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10"/>
              <a:t> </a:t>
            </a:r>
            <a:r>
              <a:rPr dirty="0" spc="-25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10"/>
              <a:t> </a:t>
            </a:r>
            <a:r>
              <a:rPr dirty="0" spc="-25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10"/>
              <a:t> </a:t>
            </a:r>
            <a:r>
              <a:rPr dirty="0" spc="-25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10"/>
              <a:t> </a:t>
            </a:r>
            <a:r>
              <a:rPr dirty="0" spc="-25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10"/>
              <a:t> </a:t>
            </a:r>
            <a:r>
              <a:rPr dirty="0" spc="-25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293" y="198244"/>
            <a:ext cx="11150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293" y="596822"/>
            <a:ext cx="5273675" cy="765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234978" y="3092784"/>
            <a:ext cx="400050" cy="12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#</a:t>
            </a:fld>
            <a:r>
              <a:rPr dirty="0" spc="5"/>
              <a:t> </a:t>
            </a:r>
            <a:r>
              <a:rPr dirty="0"/>
              <a:t>/</a:t>
            </a:r>
            <a:r>
              <a:rPr dirty="0" spc="10"/>
              <a:t> </a:t>
            </a:r>
            <a:r>
              <a:rPr dirty="0" spc="-25"/>
              <a:t>11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personal-id@some.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10.xml"/><Relationship Id="rId5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10.xml"/><Relationship Id="rId5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5.xml"/><Relationship Id="rId4" Type="http://schemas.openxmlformats.org/officeDocument/2006/relationships/slide" Target="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6.xml"/><Relationship Id="rId4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7.xml"/><Relationship Id="rId4" Type="http://schemas.openxmlformats.org/officeDocument/2006/relationships/slide" Target="slide1.xml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slide" Target="slide8.xml"/><Relationship Id="rId4" Type="http://schemas.openxmlformats.org/officeDocument/2006/relationships/slide" Target="slide1.xml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.xml"/><Relationship Id="rId3" Type="http://schemas.openxmlformats.org/officeDocument/2006/relationships/slide" Target="slide9.xml"/><Relationship Id="rId4" Type="http://schemas.openxmlformats.org/officeDocument/2006/relationships/slide" Target="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0.xml"/><Relationship Id="rId3" Type="http://schemas.openxmlformats.org/officeDocument/2006/relationships/slide" Target="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93" y="252004"/>
            <a:ext cx="508223" cy="5039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2920" y="960120"/>
            <a:ext cx="4846320" cy="914400"/>
          </a:xfrm>
          <a:prstGeom prst="rect"/>
        </p:spPr>
        <p:txBody>
          <a:bodyPr wrap="square" lIns="0" tIns="99695" rIns="0" bIns="0" rtlCol="0" vert="horz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785"/>
              </a:spcBef>
              <a:defRPr sz="1700" b="1"/>
            </a:pPr>
            <a:r>
              <a:t>Authorised Attack-Surface Inventory</a:t>
            </a:r>
            <a:endParaRPr sz="2050"/>
          </a:p>
          <a:p>
            <a:pPr algn="ctr">
              <a:defRPr sz="1700" b="1"/>
            </a:pPr>
            <a:r>
              <a:t>&amp; Continuous Change Monitor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4360" y="2057400"/>
            <a:ext cx="4572000" cy="73152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54"/>
              </a:spcBef>
            </a:pPr>
            <a:r>
              <a:rPr sz="850"/>
              <a:t>Security Engineering Research Team</a:t>
            </a:r>
            <a:endParaRPr sz="1000">
              <a:latin typeface="Century Gothic"/>
              <a:cs typeface="Century Gothic"/>
            </a:endParaRPr>
          </a:p>
          <a:p>
            <a:pPr algn="ctr">
              <a:defRPr sz="1000"/>
            </a:pPr>
            <a:r>
              <a:rPr sz="850"/>
              <a:t>security-research@corp.internal</a:t>
            </a:r>
          </a:p>
          <a:p>
            <a:pPr algn="ctr">
              <a:defRPr sz="1100"/>
            </a:pPr>
            <a:r>
              <a:rPr sz="850"/>
              <a:t>AIORI Hackathon 3</a:t>
            </a:r>
          </a:p>
          <a:p>
            <a:pPr algn="ctr">
              <a:defRPr sz="1100"/>
            </a:pPr>
            <a:r>
              <a:rPr sz="850"/>
              <a:t>October 5, 2026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dirty="0" sz="600" spc="4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dirty="0" sz="600" spc="-5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33337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Abstract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61036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80" b="1">
                <a:solidFill>
                  <a:srgbClr val="0000DC"/>
                </a:solidFill>
                <a:latin typeface="Century Gothic"/>
                <a:cs typeface="Century Gothic"/>
              </a:rPr>
              <a:t>Problem</a:t>
            </a:r>
            <a:r>
              <a:rPr dirty="0" sz="1400" spc="30" b="1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dirty="0" sz="1400" spc="-55" b="1">
                <a:solidFill>
                  <a:srgbClr val="0000DC"/>
                </a:solidFill>
                <a:latin typeface="Century Gothic"/>
                <a:cs typeface="Century Gothic"/>
              </a:rPr>
              <a:t>Description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960550"/>
            <a:ext cx="5205730" cy="1351280"/>
          </a:xfrm>
          <a:prstGeom prst="rect">
            <a:avLst/>
          </a:prstGeom>
        </p:spPr>
        <p:txBody>
          <a:bodyPr wrap="square" lIns="36576" tIns="27432" rIns="36576" bIns="18288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• Black-box EASM scans lack Jira/change-window context, causing false alarms during approved maintenance.</a:t>
            </a:r>
            <a:endParaRPr sz="1100">
              <a:latin typeface="Century Gothic"/>
              <a:cs typeface="Century Gothic"/>
            </a:endParaRP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• Static CMDB/ITAM records miss ephemeral cloud assets and shadow IT.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• Weekly scans can miss short-lived CI/CD services; exposed assets may be discovered by attackers within minutes.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• Teams spend days tracing exposed ports, subdomains and IPs back to owners.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• CDN IP rotation and certificate renewals create noise that can hide critical drift.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20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r>
              <a:rPr sz="550"/>
              <a:t>Security Engineering Research Team · A3-PS001-TC001 · October 5, 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2 / 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dirty="0" sz="600" spc="4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dirty="0" sz="600" spc="-5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467359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Background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9448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10" b="1">
                <a:solidFill>
                  <a:srgbClr val="0000DC"/>
                </a:solidFill>
                <a:latin typeface="Century Gothic"/>
                <a:cs typeface="Century Gothic"/>
              </a:rPr>
              <a:t>Background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880959"/>
            <a:ext cx="5281295" cy="1523365"/>
          </a:xfrm>
          <a:prstGeom prst="rect">
            <a:avLst/>
          </a:prstGeom>
        </p:spPr>
        <p:txBody>
          <a:bodyPr wrap="square" lIns="36576" tIns="27432" rIns="36576" bIns="18288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  <a:spcAft>
                <a:spcPts val="500"/>
              </a:spcAft>
              <a:defRPr sz="1100">
                <a:solidFill>
                  <a:srgbClr val="232D41"/>
                </a:solidFill>
                <a:latin typeface="Aptos"/>
              </a:defRPr>
            </a:pPr>
            <a:r>
              <a:t>Enterprise security must reconcile declared intent (Git/IaC, CMDB and approvals) with observed internet reachability.</a:t>
            </a:r>
            <a:endParaRPr sz="1100">
              <a:latin typeface="Century Gothic"/>
              <a:cs typeface="Century Gothic"/>
            </a:endParaRPr>
          </a:p>
          <a:p>
            <a:pPr>
              <a:spcAft>
                <a:spcPts val="500"/>
              </a:spcAft>
              <a:defRPr sz="1100">
                <a:solidFill>
                  <a:srgbClr val="232D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232D41"/>
                </a:solidFill>
                <a:latin typeface="Aptos"/>
              </a:defRPr>
            </a:pPr>
            <a:r>
              <a:t>• Cloud load balancers, DNS records and services can appear within seconds.</a:t>
            </a:r>
          </a:p>
          <a:p>
            <a:pPr>
              <a:spcAft>
                <a:spcPts val="500"/>
              </a:spcAft>
              <a:defRPr sz="1100">
                <a:solidFill>
                  <a:srgbClr val="232D41"/>
                </a:solidFill>
                <a:latin typeface="Aptos"/>
              </a:defRPr>
            </a:pPr>
            <a:r>
              <a:t>• Certificate Transparency logs provide near-real-time visibility into newly issued certificates.</a:t>
            </a:r>
          </a:p>
          <a:p>
            <a:pPr>
              <a:spcAft>
                <a:spcPts val="500"/>
              </a:spcAft>
              <a:defRPr sz="1100">
                <a:solidFill>
                  <a:srgbClr val="232D41"/>
                </a:solidFill>
                <a:latin typeface="Aptos"/>
              </a:defRPr>
            </a:pPr>
            <a:r>
              <a:t>• Periodic scans are too slow for workloads that live only a few hours.</a:t>
            </a:r>
          </a:p>
          <a:p>
            <a:pPr>
              <a:spcAft>
                <a:spcPts val="500"/>
              </a:spcAft>
              <a:defRPr sz="1100">
                <a:solidFill>
                  <a:srgbClr val="232D41"/>
                </a:solidFill>
                <a:latin typeface="Aptos"/>
              </a:defRPr>
            </a:pPr>
            <a:r>
              <a:t>• The monitor must distinguish routine CDN changes from risky exposures such as public database or RDP ports.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20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r>
              <a:rPr sz="550"/>
              <a:t>Security Engineering Research Team · A3-PS001-TC001 · October 5, 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3 / 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dirty="0" sz="600" spc="4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dirty="0" sz="600" spc="-5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9271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Literature</a:t>
            </a:r>
            <a:r>
              <a:rPr dirty="0" sz="600" spc="3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spc="114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&amp;</a:t>
            </a:r>
            <a:r>
              <a:rPr dirty="0" sz="600" spc="3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RFC</a:t>
            </a:r>
            <a:r>
              <a:rPr dirty="0" sz="600" spc="35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Review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9367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 b="1">
                <a:solidFill>
                  <a:srgbClr val="0000DC"/>
                </a:solidFill>
                <a:latin typeface="Century Gothic"/>
                <a:cs typeface="Century Gothic"/>
              </a:rPr>
              <a:t>Literature</a:t>
            </a:r>
            <a:r>
              <a:rPr dirty="0" sz="1400" spc="-30" b="1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dirty="0" sz="1400" spc="204" b="1">
                <a:solidFill>
                  <a:srgbClr val="0000DC"/>
                </a:solidFill>
                <a:latin typeface="Century Gothic"/>
                <a:cs typeface="Century Gothic"/>
              </a:rPr>
              <a:t>&amp;</a:t>
            </a:r>
            <a:r>
              <a:rPr dirty="0" sz="1400" spc="-30" b="1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dirty="0" sz="1400" spc="-70" b="1">
                <a:solidFill>
                  <a:srgbClr val="0000DC"/>
                </a:solidFill>
                <a:latin typeface="Century Gothic"/>
                <a:cs typeface="Century Gothic"/>
              </a:rPr>
              <a:t>RFC</a:t>
            </a:r>
            <a:r>
              <a:rPr dirty="0" sz="1400" spc="-25" b="1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dirty="0" sz="1400" spc="-80" b="1">
                <a:solidFill>
                  <a:srgbClr val="0000DC"/>
                </a:solidFill>
                <a:latin typeface="Century Gothic"/>
                <a:cs typeface="Century Gothic"/>
              </a:rPr>
              <a:t>Review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996974"/>
            <a:ext cx="5161915" cy="1179195"/>
          </a:xfrm>
          <a:prstGeom prst="rect">
            <a:avLst/>
          </a:prstGeom>
        </p:spPr>
        <p:txBody>
          <a:bodyPr wrap="square" lIns="36576" tIns="27432" rIns="36576" bIns="18288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• RFC 8555 (ACME): automated certificate issuance and renewal.</a:t>
            </a:r>
            <a:endParaRPr sz="1100">
              <a:latin typeface="Century Gothic"/>
              <a:cs typeface="Century Gothic"/>
            </a:endParaRP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• RFC 6962 (Certificate Transparency): append-only public logs that support certificate discovery.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• RFC 8499: DNS terminology useful for understanding alias chains and dangling CNAMEs.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• NIST SP 800-137 / SP 800-53 CA-7: continuous security monitoring.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• CISA BOD 22-01 and 19-02: guidance and mandates for identifying and reducing exposed risks.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Together, these standards support continuous discovery, monitoring and timely remediation.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20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r>
              <a:rPr sz="550"/>
              <a:t>Security Engineering Research Team · A3-PS001-TC001 · October 5, 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4 / 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dirty="0" sz="600" spc="4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dirty="0" sz="600" spc="-5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70675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Proposed</a:t>
            </a:r>
            <a:r>
              <a:rPr dirty="0" sz="600" spc="35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Solution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45224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0" b="1">
                <a:solidFill>
                  <a:srgbClr val="0000DC"/>
                </a:solidFill>
                <a:latin typeface="Century Gothic"/>
                <a:cs typeface="Century Gothic"/>
              </a:rPr>
              <a:t>Proposed</a:t>
            </a:r>
            <a:r>
              <a:rPr dirty="0" sz="1400" spc="25" b="1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dirty="0" sz="1400" spc="-10" b="1">
                <a:solidFill>
                  <a:srgbClr val="0000DC"/>
                </a:solidFill>
                <a:latin typeface="Century Gothic"/>
                <a:cs typeface="Century Gothic"/>
              </a:rPr>
              <a:t>Solution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1087182"/>
            <a:ext cx="5075555" cy="1007110"/>
          </a:xfrm>
          <a:prstGeom prst="rect">
            <a:avLst/>
          </a:prstGeom>
        </p:spPr>
        <p:txBody>
          <a:bodyPr wrap="square" lIns="36576" tIns="27432" rIns="36576" bIns="18288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The platform continuously reconciles the authorised ASaC baseline with observed internet-facing assets.</a:t>
            </a:r>
            <a:endParaRPr sz="1100">
              <a:latin typeface="Century Gothic"/>
              <a:cs typeface="Century Gothic"/>
            </a:endParaRP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1. Ingest cloud, DNS and Certificate Transparency events.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2. Run targeted probes within a &lt;60-second detection target.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3. Classify benign CDN changes versus risky exposures.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4. Trace assets to repositories and owners through Neo4j.</a:t>
            </a:r>
          </a:p>
          <a:p>
            <a:pPr>
              <a:spcAft>
                <a:spcPts val="500"/>
              </a:spcAft>
              <a:defRPr sz="1050">
                <a:solidFill>
                  <a:srgbClr val="232D41"/>
                </a:solidFill>
                <a:latin typeface="Aptos"/>
              </a:defRPr>
            </a:pPr>
            <a:r>
              <a:t>5. Create Git PRs/Jira tickets or trigger approved emergency containment.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20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r>
              <a:rPr sz="550"/>
              <a:t>Security Engineering Research Team · A3-PS001-TC001 · October 5, 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5 / 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dirty="0" sz="600" spc="4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dirty="0" sz="600" spc="-5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8477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Solution</a:t>
            </a:r>
            <a:r>
              <a:rPr dirty="0" sz="600" spc="95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Optimization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80848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60" b="1">
                <a:solidFill>
                  <a:srgbClr val="0000DC"/>
                </a:solidFill>
                <a:latin typeface="Century Gothic"/>
                <a:cs typeface="Century Gothic"/>
              </a:rPr>
              <a:t>Optimization</a:t>
            </a:r>
            <a:r>
              <a:rPr dirty="0" sz="1400" b="1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dirty="0" sz="1400" spc="-80" b="1">
                <a:solidFill>
                  <a:srgbClr val="0000DC"/>
                </a:solidFill>
                <a:latin typeface="Century Gothic"/>
                <a:cs typeface="Century Gothic"/>
              </a:rPr>
              <a:t>Proposed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1018348"/>
            <a:ext cx="5075555" cy="1179195"/>
          </a:xfrm>
          <a:prstGeom prst="rect">
            <a:avLst/>
          </a:prstGeom>
        </p:spPr>
        <p:txBody>
          <a:bodyPr wrap="square" lIns="36576" tIns="27432" rIns="36576" bIns="18288" rtlCol="0" vert="horz">
            <a:spAutoFit/>
          </a:bodyPr>
          <a:lstStyle/>
          <a:p>
            <a:pPr marL="12700" marR="280035">
              <a:lnSpc>
                <a:spcPct val="102699"/>
              </a:lnSpc>
              <a:spcBef>
                <a:spcPts val="55"/>
              </a:spcBef>
              <a:spcAft>
                <a:spcPts val="500"/>
              </a:spcAft>
              <a:defRPr sz="1100">
                <a:solidFill>
                  <a:srgbClr val="232D41"/>
                </a:solidFill>
                <a:latin typeface="Aptos"/>
              </a:defRPr>
            </a:pPr>
            <a:r>
              <a:t>The proposed continuous platform reduces discovery delay, improves ownership context and prioritises real security drift.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20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r>
              <a:rPr sz="550"/>
              <a:t>Security Engineering Research Team · A3-PS001-TC001 · October 5, 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6 / 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" y="1325880"/>
          <a:ext cx="53035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965960"/>
                <a:gridCol w="2194560"/>
              </a:tblGrid>
              <a:tr h="2514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36576" marR="36576" marT="18288" marB="18288">
                    <a:solidFill>
                      <a:srgbClr val="1D3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Legacy approach</a:t>
                      </a:r>
                    </a:p>
                  </a:txBody>
                  <a:tcPr marL="36576" marR="36576" marT="18288" marB="18288">
                    <a:solidFill>
                      <a:srgbClr val="1D397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Proposed platform</a:t>
                      </a:r>
                    </a:p>
                  </a:txBody>
                  <a:tcPr marL="36576" marR="36576" marT="18288" marB="18288">
                    <a:solidFill>
                      <a:srgbClr val="1D397D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Discovery</a:t>
                      </a:r>
                    </a:p>
                  </a:txBody>
                  <a:tcPr marL="36576" marR="36576" marT="18288" marB="18288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7–30 day scans</a:t>
                      </a:r>
                    </a:p>
                  </a:txBody>
                  <a:tcPr marL="36576" marR="36576" marT="18288" marB="18288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Event-driven; target &lt;60s</a:t>
                      </a:r>
                    </a:p>
                  </a:txBody>
                  <a:tcPr marL="36576" marR="36576" marT="18288" marB="18288">
                    <a:solidFill>
                      <a:srgbClr val="EFF4FC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Authorisation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No change context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Git/Jira baseline reconciliation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Ephemeral assets</a:t>
                      </a:r>
                    </a:p>
                  </a:txBody>
                  <a:tcPr marL="36576" marR="36576" marT="18288" marB="18288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Often missed</a:t>
                      </a:r>
                    </a:p>
                  </a:txBody>
                  <a:tcPr marL="36576" marR="36576" marT="18288" marB="18288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Real-time tracking + TTL</a:t>
                      </a:r>
                    </a:p>
                  </a:txBody>
                  <a:tcPr marL="36576" marR="36576" marT="18288" marB="18288">
                    <a:solidFill>
                      <a:srgbClr val="EFF4FC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Triage / ownership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Manual; days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Semantic filter + Neo4j graph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Response</a:t>
                      </a:r>
                    </a:p>
                  </a:txBody>
                  <a:tcPr marL="36576" marR="36576" marT="18288" marB="18288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Backlog tickets</a:t>
                      </a:r>
                    </a:p>
                  </a:txBody>
                  <a:tcPr marL="36576" marR="36576" marT="18288" marB="18288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232D41"/>
                          </a:solidFill>
                          <a:latin typeface="Aptos"/>
                        </a:defRPr>
                      </a:pPr>
                      <a:r>
                        <a:t>Git PR/Jira; Tier-2 containment</a:t>
                      </a:r>
                    </a:p>
                  </a:txBody>
                  <a:tcPr marL="36576" marR="36576" marT="18288" marB="18288">
                    <a:solidFill>
                      <a:srgbClr val="EF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93" y="-20564"/>
            <a:ext cx="2574290" cy="46291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390"/>
              </a:spcBef>
            </a:pP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dirty="0" sz="600" spc="4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dirty="0" sz="600" spc="-5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dirty="0" sz="1400" spc="-20" b="1">
                <a:solidFill>
                  <a:srgbClr val="0000DC"/>
                </a:solidFill>
                <a:latin typeface="Century Gothic"/>
                <a:cs typeface="Century Gothic"/>
              </a:rPr>
              <a:t>Solution </a:t>
            </a:r>
            <a:r>
              <a:rPr dirty="0" sz="1400" spc="-85" b="1">
                <a:solidFill>
                  <a:srgbClr val="0000DC"/>
                </a:solidFill>
                <a:latin typeface="Century Gothic"/>
                <a:cs typeface="Century Gothic"/>
              </a:rPr>
              <a:t>Architecture</a:t>
            </a:r>
            <a:r>
              <a:rPr dirty="0" sz="1400" spc="-15" b="1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dirty="0" sz="1400" spc="204" b="1">
                <a:solidFill>
                  <a:srgbClr val="0000DC"/>
                </a:solidFill>
                <a:latin typeface="Century Gothic"/>
                <a:cs typeface="Century Gothic"/>
              </a:rPr>
              <a:t>&amp;</a:t>
            </a:r>
            <a:r>
              <a:rPr dirty="0" sz="1400" spc="-15" b="1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dirty="0" sz="1400" spc="-10" b="1">
                <a:solidFill>
                  <a:srgbClr val="0000DC"/>
                </a:solidFill>
                <a:latin typeface="Century Gothic"/>
                <a:cs typeface="Century Gothic"/>
              </a:rPr>
              <a:t>Design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133096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Architecture</a:t>
            </a:r>
            <a:r>
              <a:rPr dirty="0" sz="600" spc="15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Design</a:t>
            </a:r>
            <a:r>
              <a:rPr dirty="0" sz="600" spc="15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(UML</a:t>
            </a:r>
            <a:r>
              <a:rPr dirty="0" sz="600" spc="15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Diagram)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486865"/>
            <a:ext cx="378904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defRPr sz="800"/>
            </a:pPr>
            <a:r>
              <a:t>Declared intent and observed reality are reconciled before drift is classified and remediated.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8640" y="2679192"/>
            <a:ext cx="4754880" cy="164592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/>
            <a:r>
              <a:rPr sz="700"/>
              <a:t>Figure: Dual-Plane Reconciliation &amp; Ownership Attribution Architecture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9293" y="3050083"/>
            <a:ext cx="1608455" cy="20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r>
              <a:rPr sz="550"/>
              <a:t>Security Engineering Research Team · A3-PS001-TC001 · October 5, 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7 / 11</a:t>
            </a:r>
          </a:p>
        </p:txBody>
      </p:sp>
      <p:pic>
        <p:nvPicPr>
          <p:cNvPr id="13" name="Picture 12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749808"/>
            <a:ext cx="5166360" cy="1874519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116903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0850" algn="l"/>
              </a:tabLst>
            </a:pP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dirty="0" sz="600" spc="4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dirty="0" sz="600" spc="-5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</a:rPr>
              <a:t>	</a:t>
            </a: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Data</a:t>
            </a:r>
            <a:r>
              <a:rPr dirty="0" sz="600" spc="2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Flow</a:t>
            </a:r>
            <a:r>
              <a:rPr dirty="0" sz="600" spc="2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Diagram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3" y="106208"/>
            <a:ext cx="4951730" cy="744855"/>
          </a:xfrm>
          <a:prstGeom prst="rect"/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defRPr sz="1500" b="1"/>
            </a:pPr>
            <a:r>
              <a:t>Data Flow Diagram</a:t>
            </a:r>
          </a:p>
          <a:p>
            <a:pPr>
              <a:defRPr sz="900"/>
            </a:pPr>
            <a:r>
              <a:t>Event-driven ingestion → probe → state diff → attribution → remediation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8640" y="2679192"/>
            <a:ext cx="4754880" cy="164592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/>
            <a:r>
              <a:rPr sz="700"/>
              <a:t>Figure: Event-Driven Ingestion &amp; Closed-Loop Remediation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9293" y="3050083"/>
            <a:ext cx="1608455" cy="20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r>
              <a:rPr sz="550"/>
              <a:t>Security Engineering Research Team · A3-PS001-TC001 · October 5, 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8 / 11</a:t>
            </a:r>
          </a:p>
        </p:txBody>
      </p:sp>
      <p:pic>
        <p:nvPicPr>
          <p:cNvPr id="12" name="Picture 11" descr="d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914400"/>
            <a:ext cx="5166360" cy="1783080"/>
          </a:xfrm>
          <a:prstGeom prst="rect">
            <a:avLst/>
          </a:prstGeom>
        </p:spPr>
      </p:pic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dirty="0" sz="600" spc="4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dirty="0" sz="600" spc="-5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8305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Deployment</a:t>
            </a:r>
            <a:r>
              <a:rPr dirty="0" sz="600" spc="-35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Timeline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70497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95" b="1">
                <a:solidFill>
                  <a:srgbClr val="0000DC"/>
                </a:solidFill>
                <a:latin typeface="Century Gothic"/>
                <a:cs typeface="Century Gothic"/>
              </a:rPr>
              <a:t>Deployment</a:t>
            </a:r>
            <a:r>
              <a:rPr dirty="0" sz="1400" spc="-20" b="1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dirty="0" sz="1400" spc="-10" b="1">
                <a:solidFill>
                  <a:srgbClr val="0000DC"/>
                </a:solidFill>
                <a:latin typeface="Century Gothic"/>
                <a:cs typeface="Century Gothic"/>
              </a:rPr>
              <a:t>Timeline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1087677"/>
            <a:ext cx="5075555" cy="1007110"/>
          </a:xfrm>
          <a:prstGeom prst="rect">
            <a:avLst/>
          </a:prstGeom>
        </p:spPr>
        <p:txBody>
          <a:bodyPr wrap="square" lIns="36576" tIns="27432" rIns="36576" bIns="18288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spcAft>
                <a:spcPts val="500"/>
              </a:spcAft>
              <a:defRPr sz="1000">
                <a:solidFill>
                  <a:srgbClr val="232D41"/>
                </a:solidFill>
                <a:latin typeface="Aptos"/>
              </a:defRPr>
            </a:pPr>
            <a:r>
              <a:t>Phase 1 — Ingestion (Weeks 1–4): Parse ASaC; connect CT and CloudTrail events.</a:t>
            </a:r>
            <a:endParaRPr sz="1100">
              <a:latin typeface="Century Gothic"/>
              <a:cs typeface="Century Gothic"/>
            </a:endParaRPr>
          </a:p>
          <a:p>
            <a:pPr>
              <a:spcAft>
                <a:spcPts val="500"/>
              </a:spcAft>
              <a:defRPr sz="1000">
                <a:solidFill>
                  <a:srgbClr val="232D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000">
                <a:solidFill>
                  <a:srgbClr val="232D41"/>
                </a:solidFill>
                <a:latin typeface="Aptos"/>
              </a:defRPr>
            </a:pPr>
            <a:r>
              <a:t>Phase 2 — Reconciliation (Weeks 5–8): Build the diff controller, JIT probes and CDN filter.</a:t>
            </a:r>
          </a:p>
          <a:p>
            <a:pPr>
              <a:spcAft>
                <a:spcPts val="500"/>
              </a:spcAft>
              <a:defRPr sz="1000">
                <a:solidFill>
                  <a:srgbClr val="232D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000">
                <a:solidFill>
                  <a:srgbClr val="232D41"/>
                </a:solidFill>
                <a:latin typeface="Aptos"/>
              </a:defRPr>
            </a:pPr>
            <a:r>
              <a:t>Phase 3 — Attribution (Weeks 9–12): Link Git and cloud topology in Neo4j.</a:t>
            </a:r>
          </a:p>
          <a:p>
            <a:pPr>
              <a:spcAft>
                <a:spcPts val="500"/>
              </a:spcAft>
              <a:defRPr sz="1000">
                <a:solidFill>
                  <a:srgbClr val="232D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000">
                <a:solidFill>
                  <a:srgbClr val="232D41"/>
                </a:solidFill>
                <a:latin typeface="Aptos"/>
              </a:defRPr>
            </a:pPr>
            <a:r>
              <a:t>Phase 4 — Response (Weeks 13–16): Deploy Git PR/Jira automation and serverless containment.</a:t>
            </a:r>
          </a:p>
          <a:p>
            <a:pPr>
              <a:spcAft>
                <a:spcPts val="500"/>
              </a:spcAft>
              <a:defRPr sz="1000">
                <a:solidFill>
                  <a:srgbClr val="232D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000">
                <a:solidFill>
                  <a:srgbClr val="232D41"/>
                </a:solidFill>
                <a:latin typeface="Aptos"/>
              </a:defRPr>
            </a:pPr>
            <a:r>
              <a:t>Targets: detection &lt;60s; &lt;10s revocation of exposed database/RDP rules.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20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r>
              <a:rPr sz="550"/>
              <a:t>Security Engineering Research Team · A3-PS001-TC001 · October 5, 2026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9 / 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2885" y="16997"/>
            <a:ext cx="50038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10" b="1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Bibliography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ext cx="1828800" cy="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r>
              <a:rPr sz="1400"/>
              <a:t>Bibliography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36576" tIns="27432" rIns="36576" bIns="18288" rtlCol="0" vert="horz">
            <a:spAutoFit/>
          </a:bodyPr>
          <a:lstStyle/>
          <a:p>
            <a:pPr marL="310515" marR="5080" indent="-298450">
              <a:lnSpc>
                <a:spcPct val="102699"/>
              </a:lnSpc>
              <a:spcBef>
                <a:spcPts val="55"/>
              </a:spcBef>
              <a:spcAft>
                <a:spcPts val="500"/>
              </a:spcAft>
              <a:buClr>
                <a:srgbClr val="0000DC"/>
              </a:buClr>
              <a:buFont typeface="Century Gothic"/>
              <a:buAutoNum type="arabicPlain"/>
              <a:tabLst>
                <a:tab pos="310515" algn="l"/>
              </a:tabLst>
              <a:defRPr sz="950">
                <a:solidFill>
                  <a:srgbClr val="232D41"/>
                </a:solidFill>
                <a:latin typeface="Aptos"/>
              </a:defRPr>
            </a:pPr>
            <a:r>
              <a:t>[1] NIST, SP 800-137, Information Security Continuous Monitoring (ISCM), 2011.</a:t>
            </a:r>
          </a:p>
          <a:p>
            <a:pPr>
              <a:spcAft>
                <a:spcPts val="500"/>
              </a:spcAft>
              <a:defRPr sz="950">
                <a:solidFill>
                  <a:srgbClr val="232D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950">
                <a:solidFill>
                  <a:srgbClr val="232D41"/>
                </a:solidFill>
                <a:latin typeface="Aptos"/>
              </a:defRPr>
            </a:pPr>
            <a:r>
              <a:t>[2] B. Laurie, A. Langley &amp; E. Kasper, RFC 6962: Certificate Transparency, 2013; R. Barnes et al., RFC 8555: ACME, 2019.</a:t>
            </a:r>
          </a:p>
          <a:p>
            <a:pPr>
              <a:spcAft>
                <a:spcPts val="500"/>
              </a:spcAft>
              <a:defRPr sz="950">
                <a:solidFill>
                  <a:srgbClr val="232D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950">
                <a:solidFill>
                  <a:srgbClr val="232D41"/>
                </a:solidFill>
                <a:latin typeface="Aptos"/>
              </a:defRPr>
            </a:pPr>
            <a:r>
              <a:t>[3] K. Borgolte et al., “Cloud Strife: Mitigating the Risks of Domain-Validated Certificates,” ACM IMC, 2018.</a:t>
            </a:r>
          </a:p>
          <a:p>
            <a:pPr>
              <a:spcAft>
                <a:spcPts val="500"/>
              </a:spcAft>
              <a:defRPr sz="950">
                <a:solidFill>
                  <a:srgbClr val="232D4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950">
                <a:solidFill>
                  <a:srgbClr val="232D41"/>
                </a:solidFill>
                <a:latin typeface="Aptos"/>
              </a:defRPr>
            </a:pPr>
            <a:r>
              <a:t>[4] CISA, Binding Operational Directive 22-01, Reducing the Significant Risk of Known Exploited Vulnerabilities, 2021.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9293" y="3050083"/>
            <a:ext cx="1608455" cy="20764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r>
              <a:rPr sz="550"/>
              <a:t>Security Engineering Research Team · A3-PS001-TC001 · October 5, 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r>
              <a:t>10 / 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94535" y="1088871"/>
            <a:ext cx="17710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r>
              <a:rPr sz="1900"/>
              <a:t>Thank You for Your Attention!</a:t>
            </a:r>
          </a:p>
          <a:p>
            <a:r>
              <a:rPr sz="1200"/>
              <a:t>Questions &amp; Discussion</a:t>
            </a:r>
          </a:p>
          <a:p>
            <a:r>
              <a:rPr sz="1200"/>
              <a:t>Authorised Attack-Surface Inventory and Continuous Change Monitor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John Doe, personal-id@some.mail.com</dc:creator>
  <cp:keywords>the, presentation, keywords</cp:keywords>
  <dc:subject>Presentation Subject</dc:subject>
  <dc:title>A3-PS001-TC001 - Android Ransomware-like Activity Early Warning in a Controlled Lab</dc:title>
  <dcterms:created xsi:type="dcterms:W3CDTF">2026-10-12T13:20:06Z</dcterms:created>
  <dcterms:modified xsi:type="dcterms:W3CDTF">2026-10-12T13:20:06Z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2026-10-12T00:00:00Z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